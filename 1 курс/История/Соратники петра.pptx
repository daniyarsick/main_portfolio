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3" r:id="rId6"/>
    <p:sldId id="264" r:id="rId7"/>
    <p:sldId id="268" r:id="rId8"/>
    <p:sldId id="266" r:id="rId9"/>
    <p:sldId id="267" r:id="rId10"/>
    <p:sldId id="261" r:id="rId11"/>
    <p:sldId id="269" r:id="rId12"/>
    <p:sldId id="270" r:id="rId13"/>
    <p:sldId id="265" r:id="rId14"/>
    <p:sldId id="262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2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9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6930-8C2B-4549-82C1-C89D8C1D0D7C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3547B-6C7C-47D7-89E4-9329CD966F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864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6930-8C2B-4549-82C1-C89D8C1D0D7C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3547B-6C7C-47D7-89E4-9329CD966F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212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6930-8C2B-4549-82C1-C89D8C1D0D7C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3547B-6C7C-47D7-89E4-9329CD966F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4686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6930-8C2B-4549-82C1-C89D8C1D0D7C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3547B-6C7C-47D7-89E4-9329CD966F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435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6930-8C2B-4549-82C1-C89D8C1D0D7C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3547B-6C7C-47D7-89E4-9329CD966F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011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6930-8C2B-4549-82C1-C89D8C1D0D7C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3547B-6C7C-47D7-89E4-9329CD966F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719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6930-8C2B-4549-82C1-C89D8C1D0D7C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3547B-6C7C-47D7-89E4-9329CD966F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287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6930-8C2B-4549-82C1-C89D8C1D0D7C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3547B-6C7C-47D7-89E4-9329CD966F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911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6930-8C2B-4549-82C1-C89D8C1D0D7C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3547B-6C7C-47D7-89E4-9329CD966F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519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6930-8C2B-4549-82C1-C89D8C1D0D7C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3547B-6C7C-47D7-89E4-9329CD966F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610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6930-8C2B-4549-82C1-C89D8C1D0D7C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3547B-6C7C-47D7-89E4-9329CD966F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68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76930-8C2B-4549-82C1-C89D8C1D0D7C}" type="datetimeFigureOut">
              <a:rPr lang="ru-RU" smtClean="0"/>
              <a:t>24.04.2023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F3547B-6C7C-47D7-89E4-9329CD966F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875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Соратники Петра </a:t>
            </a:r>
            <a:r>
              <a:rPr lang="en-US" dirty="0" smtClean="0"/>
              <a:t>I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949184" y="5513134"/>
            <a:ext cx="4468368" cy="1655762"/>
          </a:xfrm>
        </p:spPr>
        <p:txBody>
          <a:bodyPr/>
          <a:lstStyle/>
          <a:p>
            <a:r>
              <a:rPr lang="ru-RU" dirty="0" smtClean="0"/>
              <a:t>Аннануров Даниил Петрович</a:t>
            </a:r>
          </a:p>
          <a:p>
            <a:r>
              <a:rPr lang="ru-RU" dirty="0"/>
              <a:t>Антипов Арсений </a:t>
            </a:r>
            <a:r>
              <a:rPr lang="ru-RU" dirty="0" smtClean="0"/>
              <a:t>Павлович</a:t>
            </a:r>
          </a:p>
          <a:p>
            <a:r>
              <a:rPr lang="ru-RU" dirty="0" smtClean="0"/>
              <a:t>ИВТ 1.2</a:t>
            </a:r>
          </a:p>
        </p:txBody>
      </p:sp>
    </p:spTree>
    <p:extLst>
      <p:ext uri="{BB962C8B-B14F-4D97-AF65-F5344CB8AC3E}">
        <p14:creationId xmlns:p14="http://schemas.microsoft.com/office/powerpoint/2010/main" val="832055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825624"/>
          </a:xfrm>
        </p:spPr>
        <p:txBody>
          <a:bodyPr/>
          <a:lstStyle/>
          <a:p>
            <a:pPr algn="ctr"/>
            <a:r>
              <a:rPr lang="ru-RU" dirty="0" smtClean="0"/>
              <a:t>Меншиков Александр Данилович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(1673-1729)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3464" y="1825625"/>
            <a:ext cx="744253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З</a:t>
            </a:r>
            <a:r>
              <a:rPr lang="ru-RU" dirty="0" smtClean="0"/>
              <a:t>анимался </a:t>
            </a:r>
            <a:r>
              <a:rPr lang="ru-RU" dirty="0"/>
              <a:t>генерал-губернаторскими делами в Санкт-Петербурге, а также управлял Прибалтикой и Ижорской землей, ведал сбором государственных доходов. Во время частых отъездов Петра I он возглавлял управление страной и дважды был президентом Военной коллегии (1718-1724 гг</a:t>
            </a:r>
            <a:r>
              <a:rPr lang="ru-RU" dirty="0" smtClean="0"/>
              <a:t>.)</a:t>
            </a:r>
            <a:endParaRPr lang="ru-RU" dirty="0"/>
          </a:p>
        </p:txBody>
      </p:sp>
      <p:pic>
        <p:nvPicPr>
          <p:cNvPr id="2050" name="Picture 2" descr="https://cdn.discordapp.com/attachments/1051873563092713497/1099759477319802990/Portrait_of_Alexander_Danilovich_Menshikov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078" y="1600597"/>
            <a:ext cx="3883838" cy="480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871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ru-RU" dirty="0" smtClean="0"/>
              <a:t>Головин</a:t>
            </a:r>
            <a:r>
              <a:rPr lang="en-US" dirty="0" smtClean="0"/>
              <a:t> </a:t>
            </a:r>
            <a:r>
              <a:rPr lang="ru-RU" dirty="0" smtClean="0"/>
              <a:t>Фёдор </a:t>
            </a:r>
            <a:r>
              <a:rPr lang="ru-RU" dirty="0"/>
              <a:t>Алексеевич</a:t>
            </a:r>
            <a:br>
              <a:rPr lang="ru-RU" dirty="0"/>
            </a:br>
            <a:r>
              <a:rPr lang="ru-RU" dirty="0" smtClean="0"/>
              <a:t>(1650-1706)</a:t>
            </a:r>
            <a:endParaRPr lang="ru-RU" dirty="0"/>
          </a:p>
        </p:txBody>
      </p:sp>
      <p:pic>
        <p:nvPicPr>
          <p:cNvPr id="3074" name="Picture 2" descr="Fedor Golovin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1690688"/>
            <a:ext cx="3257550" cy="425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591050" y="2260568"/>
            <a:ext cx="695782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u-RU" sz="2800" dirty="0">
                <a:solidFill>
                  <a:srgbClr val="000000"/>
                </a:solidFill>
              </a:rPr>
              <a:t>был </a:t>
            </a:r>
            <a:r>
              <a:rPr lang="ru-RU" sz="2800" dirty="0" smtClean="0">
                <a:solidFill>
                  <a:srgbClr val="000000"/>
                </a:solidFill>
              </a:rPr>
              <a:t>российским политическим </a:t>
            </a:r>
            <a:r>
              <a:rPr lang="ru-RU" sz="2800" dirty="0">
                <a:solidFill>
                  <a:srgbClr val="000000"/>
                </a:solidFill>
              </a:rPr>
              <a:t>и военным деятелем, который также считается одним из важных соратников Петра I. Он был ближайшим другом и советником молодого </a:t>
            </a:r>
            <a:r>
              <a:rPr lang="ru-RU" sz="2800" dirty="0" smtClean="0">
                <a:solidFill>
                  <a:srgbClr val="000000"/>
                </a:solidFill>
              </a:rPr>
              <a:t>Петра.</a:t>
            </a:r>
            <a:endParaRPr lang="ru-RU" sz="28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24873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ru-RU" dirty="0" smtClean="0"/>
              <a:t>Волынский </a:t>
            </a:r>
            <a:r>
              <a:rPr lang="ru-RU" dirty="0"/>
              <a:t>Артемий Петрович</a:t>
            </a:r>
            <a:br>
              <a:rPr lang="ru-RU" dirty="0"/>
            </a:br>
            <a:r>
              <a:rPr lang="ru-RU" dirty="0" smtClean="0"/>
              <a:t>(1689-1740)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8912" y="1825625"/>
            <a:ext cx="790956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был военным деятелем и политическим </a:t>
            </a:r>
            <a:r>
              <a:rPr lang="ru-RU" dirty="0" smtClean="0"/>
              <a:t>деятелем. Он </a:t>
            </a:r>
            <a:r>
              <a:rPr lang="ru-RU" dirty="0"/>
              <a:t>занимал высокие должности в армии и был назначен главным командующим флотом Балтийского моря</a:t>
            </a:r>
            <a:r>
              <a:rPr lang="ru-RU" dirty="0" smtClean="0"/>
              <a:t>,</a:t>
            </a:r>
            <a:r>
              <a:rPr lang="ru-RU" dirty="0"/>
              <a:t> также был одним из инициаторов и организаторов строительства </a:t>
            </a:r>
            <a:r>
              <a:rPr lang="ru-RU" dirty="0" smtClean="0"/>
              <a:t>Санкт-Петербурга.</a:t>
            </a:r>
            <a:endParaRPr lang="ru-RU" dirty="0"/>
          </a:p>
        </p:txBody>
      </p:sp>
      <p:pic>
        <p:nvPicPr>
          <p:cNvPr id="4098" name="Picture 2" descr="Portrait of Artemy Petrovich Volynsky (1689–1740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124" y="1825625"/>
            <a:ext cx="3121025" cy="3952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79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ru-RU" dirty="0" smtClean="0"/>
              <a:t>Шафиров Петр Павлович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(</a:t>
            </a:r>
            <a:r>
              <a:rPr lang="ru-RU" dirty="0" smtClean="0"/>
              <a:t>1669-1739)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67912" y="1825625"/>
            <a:ext cx="7927848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второй по рангу после Гаврилы Головкина дипломат петровского </a:t>
            </a:r>
            <a:r>
              <a:rPr lang="ru-RU" dirty="0" smtClean="0"/>
              <a:t>времени. </a:t>
            </a:r>
            <a:r>
              <a:rPr lang="ru-RU" dirty="0"/>
              <a:t>Кавалер ордена св. Андрея Первозванного (1719). В 1701—1722 годах фактически руководил российской почтой. В 1723 году приговорён к смертной казни по обвинению в злоупотреблениях, но после смерти Петра I смог вернуться к дипломатической деятельности. </a:t>
            </a:r>
          </a:p>
        </p:txBody>
      </p:sp>
      <p:pic>
        <p:nvPicPr>
          <p:cNvPr id="2050" name="Picture 2" descr="https://sutd.ru/images/news/Shafirov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2885575" cy="3541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1961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ru-RU" dirty="0" smtClean="0"/>
              <a:t>Нартов Андрей Константинович</a:t>
            </a:r>
            <a:br>
              <a:rPr lang="ru-RU" dirty="0" smtClean="0"/>
            </a:br>
            <a:r>
              <a:rPr lang="ru-RU" dirty="0" smtClean="0"/>
              <a:t>(1693-1756)</a:t>
            </a:r>
            <a:endParaRPr lang="ru-RU" dirty="0"/>
          </a:p>
        </p:txBody>
      </p:sp>
      <p:pic>
        <p:nvPicPr>
          <p:cNvPr id="4098" name="Picture 2" descr="https://sutd.ru/images/news/Nartov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8362" y="1690689"/>
            <a:ext cx="3557397" cy="4401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87680" y="1969300"/>
            <a:ext cx="748588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русский учёный, механик и скульптор, статский советник, член Академии наук (1723—1756), изобретатель токарно-винторезного станка с механизированным суппортом и набором сменных зубчатых </a:t>
            </a:r>
            <a:r>
              <a:rPr lang="ru-RU" sz="2800" dirty="0" smtClean="0"/>
              <a:t>колёс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6463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ru-RU" dirty="0" smtClean="0"/>
              <a:t>Брюс Яков </a:t>
            </a:r>
            <a:r>
              <a:rPr lang="ru-RU" dirty="0" err="1" smtClean="0"/>
              <a:t>Вилимович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(1669-1735)</a:t>
            </a:r>
            <a:endParaRPr lang="ru-RU" dirty="0"/>
          </a:p>
        </p:txBody>
      </p:sp>
      <p:pic>
        <p:nvPicPr>
          <p:cNvPr id="7170" name="Picture 2" descr="https://sutd.ru/images/news/Brus_Yakov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62" y="1690689"/>
            <a:ext cx="3292221" cy="4169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053840" y="1839944"/>
            <a:ext cx="796137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русский государственный деятель, военачальник, дипломат, инженер и учёный, один из ближайших сподвижников Петра I. Генерал-фельдцейхмейстер (1711), генерал-фельдмаршал (1726), реформатор русской артиллерии.</a:t>
            </a:r>
          </a:p>
        </p:txBody>
      </p:sp>
    </p:spTree>
    <p:extLst>
      <p:ext uri="{BB962C8B-B14F-4D97-AF65-F5344CB8AC3E}">
        <p14:creationId xmlns:p14="http://schemas.microsoft.com/office/powerpoint/2010/main" val="3687236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55575" y="0"/>
            <a:ext cx="12192000" cy="1825625"/>
          </a:xfrm>
        </p:spPr>
        <p:txBody>
          <a:bodyPr/>
          <a:lstStyle/>
          <a:p>
            <a:pPr algn="ctr"/>
            <a:r>
              <a:rPr lang="ru-RU" dirty="0" smtClean="0"/>
              <a:t>Зотов Никита Моисеевич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(1644-1717)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88536" y="1825625"/>
            <a:ext cx="7065264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Был учителем </a:t>
            </a:r>
            <a:r>
              <a:rPr lang="ru-RU" dirty="0"/>
              <a:t>Петра Великого, думный дьяк (1683-1692</a:t>
            </a:r>
            <a:r>
              <a:rPr lang="ru-RU" dirty="0" smtClean="0"/>
              <a:t>). </a:t>
            </a:r>
            <a:r>
              <a:rPr lang="ru-RU" dirty="0"/>
              <a:t>В 1710 году ему был дан титул графа, унаследованный его потомками.</a:t>
            </a:r>
          </a:p>
        </p:txBody>
      </p:sp>
      <p:pic>
        <p:nvPicPr>
          <p:cNvPr id="5122" name="Picture 2" descr="https://sutd.ru/images/news/Zotov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08" y="2327656"/>
            <a:ext cx="3294888" cy="331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042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ru-RU" dirty="0" smtClean="0"/>
              <a:t>Бестужев-Рюмин </a:t>
            </a:r>
            <a:r>
              <a:rPr lang="ru-RU" dirty="0"/>
              <a:t>Алексей Петрович</a:t>
            </a:r>
            <a:br>
              <a:rPr lang="ru-RU" dirty="0"/>
            </a:br>
            <a:r>
              <a:rPr lang="ru-RU" dirty="0"/>
              <a:t>(</a:t>
            </a:r>
            <a:r>
              <a:rPr lang="ru-RU" dirty="0" smtClean="0"/>
              <a:t>1693-1766)</a:t>
            </a:r>
            <a:endParaRPr lang="ru-RU" dirty="0"/>
          </a:p>
        </p:txBody>
      </p:sp>
      <p:pic>
        <p:nvPicPr>
          <p:cNvPr id="6148" name="Picture 4" descr="https://sutd.ru/images/news/Bestujev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448" y="1690689"/>
            <a:ext cx="3530727" cy="463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57554" y="1931195"/>
            <a:ext cx="752914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</a:rPr>
              <a:t> русский государственный деятель и дипломат, канцлер Российской империи при Елизавете Петровне.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283462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ru-RU" dirty="0" smtClean="0"/>
              <a:t>Генрих Иоганн </a:t>
            </a:r>
            <a:r>
              <a:rPr lang="ru-RU" dirty="0"/>
              <a:t>Фридрих Остерман</a:t>
            </a:r>
            <a:br>
              <a:rPr lang="ru-RU" dirty="0"/>
            </a:br>
            <a:r>
              <a:rPr lang="ru-RU" dirty="0"/>
              <a:t>(</a:t>
            </a:r>
            <a:r>
              <a:rPr lang="ru-RU" dirty="0" smtClean="0"/>
              <a:t>1686-1747)</a:t>
            </a:r>
            <a:endParaRPr lang="ru-RU" dirty="0"/>
          </a:p>
        </p:txBody>
      </p:sp>
      <p:pic>
        <p:nvPicPr>
          <p:cNvPr id="1026" name="Picture 2" descr="Генрих Иоганн Фридрих (Андрей Иванович) Остерман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" y="1690688"/>
            <a:ext cx="3327654" cy="3932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угольник 13"/>
          <p:cNvSpPr/>
          <p:nvPr/>
        </p:nvSpPr>
        <p:spPr>
          <a:xfrm>
            <a:off x="4543747" y="1690688"/>
            <a:ext cx="704556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один из сподвижников Петра I, выходец из Вестфалии, фактически руководивший внешней политикой Российской империи в 1720-е и 1730-е годы. Придерживался политики союза со Священной Римской империей и стал одним из авторов союзного договора 1726 года. Занимал пост вице-канцлера и первого кабинет-министра.</a:t>
            </a:r>
          </a:p>
        </p:txBody>
      </p:sp>
    </p:spTree>
    <p:extLst>
      <p:ext uri="{BB962C8B-B14F-4D97-AF65-F5344CB8AC3E}">
        <p14:creationId xmlns:p14="http://schemas.microsoft.com/office/powerpoint/2010/main" val="372352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ru-RU" dirty="0" smtClean="0"/>
              <a:t>Репнин </a:t>
            </a:r>
            <a:r>
              <a:rPr lang="ru-RU" dirty="0" err="1" smtClean="0"/>
              <a:t>Аникита</a:t>
            </a:r>
            <a:r>
              <a:rPr lang="ru-RU" dirty="0" smtClean="0"/>
              <a:t> Иванович</a:t>
            </a:r>
            <a:br>
              <a:rPr lang="ru-RU" dirty="0" smtClean="0"/>
            </a:br>
            <a:r>
              <a:rPr lang="ru-RU" dirty="0" smtClean="0"/>
              <a:t>(</a:t>
            </a:r>
            <a:r>
              <a:rPr lang="ru-RU" dirty="0"/>
              <a:t>1668 </a:t>
            </a:r>
            <a:r>
              <a:rPr lang="ru-RU" dirty="0" smtClean="0"/>
              <a:t>-</a:t>
            </a:r>
            <a:r>
              <a:rPr lang="ru-RU" dirty="0"/>
              <a:t>1726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8196" name="Picture 4" descr="https://sutd.ru/images/news/Repin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4450" y="1690689"/>
            <a:ext cx="2843022" cy="401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87249" y="1876520"/>
            <a:ext cx="875995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русский военачальник и государственный деятель, генерал-фельдмаршал (1724), участник Северной войны. Первый генерал-губернатор Рижской губернии (с 1719 года до самой смерти), второй по счёту (после А. Д. Меншикова) Президент Военной коллегии (1724—26).</a:t>
            </a:r>
          </a:p>
        </p:txBody>
      </p:sp>
    </p:spTree>
    <p:extLst>
      <p:ext uri="{BB962C8B-B14F-4D97-AF65-F5344CB8AC3E}">
        <p14:creationId xmlns:p14="http://schemas.microsoft.com/office/powerpoint/2010/main" val="1006964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ru-RU" dirty="0"/>
              <a:t>Борис Иванович </a:t>
            </a:r>
            <a:r>
              <a:rPr lang="ru-RU" dirty="0" smtClean="0"/>
              <a:t>Куракин</a:t>
            </a:r>
            <a:br>
              <a:rPr lang="ru-RU" dirty="0" smtClean="0"/>
            </a:br>
            <a:r>
              <a:rPr lang="ru-RU" dirty="0" smtClean="0"/>
              <a:t>(1676-1727)</a:t>
            </a:r>
            <a:endParaRPr lang="ru-RU" dirty="0"/>
          </a:p>
        </p:txBody>
      </p:sp>
      <p:pic>
        <p:nvPicPr>
          <p:cNvPr id="9218" name="Picture 2" descr="https://sutd.ru/images/news/Kurakin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62" y="1690689"/>
            <a:ext cx="3227070" cy="4327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297680" y="1690689"/>
            <a:ext cx="71414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сподвижник и свояк Петра Великого, первый постоянный посол России за рубежом; действительный тайный советник. Положил начало вековой традиции дипломатической службы в роду Куракиных.</a:t>
            </a:r>
          </a:p>
        </p:txBody>
      </p:sp>
    </p:spTree>
    <p:extLst>
      <p:ext uri="{BB962C8B-B14F-4D97-AF65-F5344CB8AC3E}">
        <p14:creationId xmlns:p14="http://schemas.microsoft.com/office/powerpoint/2010/main" val="3092921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 descr="https://sutd.ru/images/news/ulici_spb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478" y="881602"/>
            <a:ext cx="8257913" cy="5617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755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pPr algn="ctr"/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15129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394</Words>
  <Application>Microsoft Office PowerPoint</Application>
  <PresentationFormat>Широкоэкранный</PresentationFormat>
  <Paragraphs>27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Соратники Петра I</vt:lpstr>
      <vt:lpstr>Меншиков Александр Данилович (1673-1729)</vt:lpstr>
      <vt:lpstr>Головин Фёдор Алексеевич (1650-1706)</vt:lpstr>
      <vt:lpstr>Волынский Артемий Петрович (1689-1740)</vt:lpstr>
      <vt:lpstr>Шафиров Петр Павлович (1669-1739)</vt:lpstr>
      <vt:lpstr>Нартов Андрей Константинович (1693-1756)</vt:lpstr>
      <vt:lpstr>Брюс Яков Вилимович (1669-1735)</vt:lpstr>
      <vt:lpstr>Зотов Никита Моисеевич (1644-1717)</vt:lpstr>
      <vt:lpstr>Бестужев-Рюмин Алексей Петрович (1693-1766)</vt:lpstr>
      <vt:lpstr>Генрих Иоганн Фридрих Остерман (1686-1747)</vt:lpstr>
      <vt:lpstr>Репнин Аникита Иванович (1668 -1726)</vt:lpstr>
      <vt:lpstr>Борис Иванович Куракин (1676-1727)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Соратники Петра I</dc:title>
  <dc:creator>Даниил Аннануров</dc:creator>
  <cp:lastModifiedBy>Даниил Аннануров</cp:lastModifiedBy>
  <cp:revision>10</cp:revision>
  <dcterms:created xsi:type="dcterms:W3CDTF">2023-04-23T17:58:10Z</dcterms:created>
  <dcterms:modified xsi:type="dcterms:W3CDTF">2023-04-24T18:28:20Z</dcterms:modified>
</cp:coreProperties>
</file>